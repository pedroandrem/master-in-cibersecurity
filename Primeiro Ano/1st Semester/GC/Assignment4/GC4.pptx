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8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Destaqu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48"/>
    <p:restoredTop sz="94654"/>
  </p:normalViewPr>
  <p:slideViewPr>
    <p:cSldViewPr snapToGrid="0">
      <p:cViewPr>
        <p:scale>
          <a:sx n="148" d="100"/>
          <a:sy n="148" d="100"/>
        </p:scale>
        <p:origin x="-226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5C9042-9F01-4755-942E-30F2D72C2BD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6A22E7-DA90-4AD7-86CF-A279B96D40E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noProof="0" dirty="0"/>
            <a:t>Migration is going to be applied on systems like patient management that host sensitive personal and medical information.,</a:t>
          </a:r>
        </a:p>
      </dgm:t>
    </dgm:pt>
    <dgm:pt modelId="{D2A9DBEC-F351-49E0-B628-43B6E86606F9}" type="parTrans" cxnId="{53B4C934-3F7E-4834-BFF5-B50591BF6EDB}">
      <dgm:prSet/>
      <dgm:spPr/>
      <dgm:t>
        <a:bodyPr/>
        <a:lstStyle/>
        <a:p>
          <a:endParaRPr lang="en-US"/>
        </a:p>
      </dgm:t>
    </dgm:pt>
    <dgm:pt modelId="{17867760-A8D9-464D-B8B3-631A56D7ED9B}" type="sibTrans" cxnId="{53B4C934-3F7E-4834-BFF5-B50591BF6EDB}">
      <dgm:prSet/>
      <dgm:spPr/>
      <dgm:t>
        <a:bodyPr/>
        <a:lstStyle/>
        <a:p>
          <a:endParaRPr lang="en-US"/>
        </a:p>
      </dgm:t>
    </dgm:pt>
    <dgm:pt modelId="{C6636F0F-4DEB-4A6A-8A34-6A642A5E474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noProof="0" dirty="0"/>
            <a:t>Only patient and medical information from Data Backup system is going to be migrated to the cloud.</a:t>
          </a:r>
        </a:p>
      </dgm:t>
    </dgm:pt>
    <dgm:pt modelId="{FFC37F07-137B-4C27-95CB-CD181D5FFB41}" type="parTrans" cxnId="{3CD4084D-28C8-46AA-84E9-9E9E9943CD8C}">
      <dgm:prSet/>
      <dgm:spPr/>
      <dgm:t>
        <a:bodyPr/>
        <a:lstStyle/>
        <a:p>
          <a:endParaRPr lang="en-US"/>
        </a:p>
      </dgm:t>
    </dgm:pt>
    <dgm:pt modelId="{1E730621-655B-4EB7-8E68-7D21BE441915}" type="sibTrans" cxnId="{3CD4084D-28C8-46AA-84E9-9E9E9943CD8C}">
      <dgm:prSet/>
      <dgm:spPr/>
      <dgm:t>
        <a:bodyPr/>
        <a:lstStyle/>
        <a:p>
          <a:endParaRPr lang="en-US"/>
        </a:p>
      </dgm:t>
    </dgm:pt>
    <dgm:pt modelId="{AC37D72D-009E-41AB-A3EA-94470BAEE931}" type="pres">
      <dgm:prSet presAssocID="{605C9042-9F01-4755-942E-30F2D72C2BD8}" presName="root" presStyleCnt="0">
        <dgm:presLayoutVars>
          <dgm:dir/>
          <dgm:resizeHandles val="exact"/>
        </dgm:presLayoutVars>
      </dgm:prSet>
      <dgm:spPr/>
    </dgm:pt>
    <dgm:pt modelId="{1A50D363-8003-4993-9896-30F1869511FD}" type="pres">
      <dgm:prSet presAssocID="{A16A22E7-DA90-4AD7-86CF-A279B96D40EC}" presName="compNode" presStyleCnt="0"/>
      <dgm:spPr/>
    </dgm:pt>
    <dgm:pt modelId="{0C0B69A6-DEA4-4B4C-85B0-908BC1D71FB1}" type="pres">
      <dgm:prSet presAssocID="{A16A22E7-DA90-4AD7-86CF-A279B96D40EC}" presName="bgRect" presStyleLbl="bgShp" presStyleIdx="0" presStyleCnt="2"/>
      <dgm:spPr/>
    </dgm:pt>
    <dgm:pt modelId="{D9959A60-D0FD-4C2E-AD8F-03F81A4AE0C7}" type="pres">
      <dgm:prSet presAssocID="{A16A22E7-DA90-4AD7-86CF-A279B96D40E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C7E3B61-B845-4A47-A554-242B6CE8CBB8}" type="pres">
      <dgm:prSet presAssocID="{A16A22E7-DA90-4AD7-86CF-A279B96D40EC}" presName="spaceRect" presStyleCnt="0"/>
      <dgm:spPr/>
    </dgm:pt>
    <dgm:pt modelId="{D8A66DEE-C72A-4846-B4DA-8C6BD4318A03}" type="pres">
      <dgm:prSet presAssocID="{A16A22E7-DA90-4AD7-86CF-A279B96D40EC}" presName="parTx" presStyleLbl="revTx" presStyleIdx="0" presStyleCnt="2">
        <dgm:presLayoutVars>
          <dgm:chMax val="0"/>
          <dgm:chPref val="0"/>
        </dgm:presLayoutVars>
      </dgm:prSet>
      <dgm:spPr/>
    </dgm:pt>
    <dgm:pt modelId="{1C3E7FC6-895C-455A-A49D-C313CEC51214}" type="pres">
      <dgm:prSet presAssocID="{17867760-A8D9-464D-B8B3-631A56D7ED9B}" presName="sibTrans" presStyleCnt="0"/>
      <dgm:spPr/>
    </dgm:pt>
    <dgm:pt modelId="{CC009277-5491-4D39-87B5-982F49709109}" type="pres">
      <dgm:prSet presAssocID="{C6636F0F-4DEB-4A6A-8A34-6A642A5E474F}" presName="compNode" presStyleCnt="0"/>
      <dgm:spPr/>
    </dgm:pt>
    <dgm:pt modelId="{5F2F37DD-E6B5-47DC-97D6-A48BCF8A0F78}" type="pres">
      <dgm:prSet presAssocID="{C6636F0F-4DEB-4A6A-8A34-6A642A5E474F}" presName="bgRect" presStyleLbl="bgShp" presStyleIdx="1" presStyleCnt="2"/>
      <dgm:spPr/>
    </dgm:pt>
    <dgm:pt modelId="{D4B27E7C-53B2-4DC4-99F0-94BC69D82EAF}" type="pres">
      <dgm:prSet presAssocID="{C6636F0F-4DEB-4A6A-8A34-6A642A5E474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1D2436B-7631-44C9-92B2-1ADBE85A7383}" type="pres">
      <dgm:prSet presAssocID="{C6636F0F-4DEB-4A6A-8A34-6A642A5E474F}" presName="spaceRect" presStyleCnt="0"/>
      <dgm:spPr/>
    </dgm:pt>
    <dgm:pt modelId="{BB6C3CAD-A55E-4255-872D-37AE7AC49973}" type="pres">
      <dgm:prSet presAssocID="{C6636F0F-4DEB-4A6A-8A34-6A642A5E474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F841626-BD84-48F2-94E2-CDB30A8F9A00}" type="presOf" srcId="{605C9042-9F01-4755-942E-30F2D72C2BD8}" destId="{AC37D72D-009E-41AB-A3EA-94470BAEE931}" srcOrd="0" destOrd="0" presId="urn:microsoft.com/office/officeart/2018/2/layout/IconVerticalSolidList"/>
    <dgm:cxn modelId="{53B4C934-3F7E-4834-BFF5-B50591BF6EDB}" srcId="{605C9042-9F01-4755-942E-30F2D72C2BD8}" destId="{A16A22E7-DA90-4AD7-86CF-A279B96D40EC}" srcOrd="0" destOrd="0" parTransId="{D2A9DBEC-F351-49E0-B628-43B6E86606F9}" sibTransId="{17867760-A8D9-464D-B8B3-631A56D7ED9B}"/>
    <dgm:cxn modelId="{3CD4084D-28C8-46AA-84E9-9E9E9943CD8C}" srcId="{605C9042-9F01-4755-942E-30F2D72C2BD8}" destId="{C6636F0F-4DEB-4A6A-8A34-6A642A5E474F}" srcOrd="1" destOrd="0" parTransId="{FFC37F07-137B-4C27-95CB-CD181D5FFB41}" sibTransId="{1E730621-655B-4EB7-8E68-7D21BE441915}"/>
    <dgm:cxn modelId="{D1BADDC3-C3E5-435B-8864-709C105E1C21}" type="presOf" srcId="{A16A22E7-DA90-4AD7-86CF-A279B96D40EC}" destId="{D8A66DEE-C72A-4846-B4DA-8C6BD4318A03}" srcOrd="0" destOrd="0" presId="urn:microsoft.com/office/officeart/2018/2/layout/IconVerticalSolidList"/>
    <dgm:cxn modelId="{D4C393E7-1B50-4539-AC4C-74E8ED369F0F}" type="presOf" srcId="{C6636F0F-4DEB-4A6A-8A34-6A642A5E474F}" destId="{BB6C3CAD-A55E-4255-872D-37AE7AC49973}" srcOrd="0" destOrd="0" presId="urn:microsoft.com/office/officeart/2018/2/layout/IconVerticalSolidList"/>
    <dgm:cxn modelId="{4AC6E561-D152-4215-9E9E-E2CB64825C4A}" type="presParOf" srcId="{AC37D72D-009E-41AB-A3EA-94470BAEE931}" destId="{1A50D363-8003-4993-9896-30F1869511FD}" srcOrd="0" destOrd="0" presId="urn:microsoft.com/office/officeart/2018/2/layout/IconVerticalSolidList"/>
    <dgm:cxn modelId="{DED0F0BA-EDE4-40B8-8485-1CA201929DF2}" type="presParOf" srcId="{1A50D363-8003-4993-9896-30F1869511FD}" destId="{0C0B69A6-DEA4-4B4C-85B0-908BC1D71FB1}" srcOrd="0" destOrd="0" presId="urn:microsoft.com/office/officeart/2018/2/layout/IconVerticalSolidList"/>
    <dgm:cxn modelId="{A06FFE57-C2CE-4F07-8734-3630395CC715}" type="presParOf" srcId="{1A50D363-8003-4993-9896-30F1869511FD}" destId="{D9959A60-D0FD-4C2E-AD8F-03F81A4AE0C7}" srcOrd="1" destOrd="0" presId="urn:microsoft.com/office/officeart/2018/2/layout/IconVerticalSolidList"/>
    <dgm:cxn modelId="{6BFF6A49-2175-4491-9835-F6487DC8FD74}" type="presParOf" srcId="{1A50D363-8003-4993-9896-30F1869511FD}" destId="{8C7E3B61-B845-4A47-A554-242B6CE8CBB8}" srcOrd="2" destOrd="0" presId="urn:microsoft.com/office/officeart/2018/2/layout/IconVerticalSolidList"/>
    <dgm:cxn modelId="{6C72F576-0786-4E23-AE96-FD41A48FF542}" type="presParOf" srcId="{1A50D363-8003-4993-9896-30F1869511FD}" destId="{D8A66DEE-C72A-4846-B4DA-8C6BD4318A03}" srcOrd="3" destOrd="0" presId="urn:microsoft.com/office/officeart/2018/2/layout/IconVerticalSolidList"/>
    <dgm:cxn modelId="{01F74B15-9B40-4BD3-B6E0-7F3A91EF02AF}" type="presParOf" srcId="{AC37D72D-009E-41AB-A3EA-94470BAEE931}" destId="{1C3E7FC6-895C-455A-A49D-C313CEC51214}" srcOrd="1" destOrd="0" presId="urn:microsoft.com/office/officeart/2018/2/layout/IconVerticalSolidList"/>
    <dgm:cxn modelId="{32D122BC-CA88-4640-8165-F2CA7FB88CA7}" type="presParOf" srcId="{AC37D72D-009E-41AB-A3EA-94470BAEE931}" destId="{CC009277-5491-4D39-87B5-982F49709109}" srcOrd="2" destOrd="0" presId="urn:microsoft.com/office/officeart/2018/2/layout/IconVerticalSolidList"/>
    <dgm:cxn modelId="{83FE5F3E-DC98-46E9-A921-3494C2ACD2DB}" type="presParOf" srcId="{CC009277-5491-4D39-87B5-982F49709109}" destId="{5F2F37DD-E6B5-47DC-97D6-A48BCF8A0F78}" srcOrd="0" destOrd="0" presId="urn:microsoft.com/office/officeart/2018/2/layout/IconVerticalSolidList"/>
    <dgm:cxn modelId="{1117324D-EE3C-4E42-894E-9DF0A43A279F}" type="presParOf" srcId="{CC009277-5491-4D39-87B5-982F49709109}" destId="{D4B27E7C-53B2-4DC4-99F0-94BC69D82EAF}" srcOrd="1" destOrd="0" presId="urn:microsoft.com/office/officeart/2018/2/layout/IconVerticalSolidList"/>
    <dgm:cxn modelId="{72C4E475-D71D-481B-A45C-1F829C083C43}" type="presParOf" srcId="{CC009277-5491-4D39-87B5-982F49709109}" destId="{61D2436B-7631-44C9-92B2-1ADBE85A7383}" srcOrd="2" destOrd="0" presId="urn:microsoft.com/office/officeart/2018/2/layout/IconVerticalSolidList"/>
    <dgm:cxn modelId="{30A1B15E-FAD7-4D87-8AB6-C2F06BC6710C}" type="presParOf" srcId="{CC009277-5491-4D39-87B5-982F49709109}" destId="{BB6C3CAD-A55E-4255-872D-37AE7AC499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13E3B7-943F-4F4F-BDEA-5CE2A8E648B8}" type="doc">
      <dgm:prSet loTypeId="urn:microsoft.com/office/officeart/2008/layout/HorizontalMultiLevelHierarchy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A5690DA-937A-F046-84EA-6E79327CC92E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GB" sz="2000" dirty="0">
              <a:solidFill>
                <a:schemeClr val="tx1"/>
              </a:solidFill>
            </a:rPr>
            <a:t>Critical Assets</a:t>
          </a:r>
        </a:p>
      </dgm:t>
    </dgm:pt>
    <dgm:pt modelId="{EE0C5A01-D5C0-0145-A810-E1388EE19062}" type="parTrans" cxnId="{A45E168F-BC01-CB48-9BE1-531C91744BBF}">
      <dgm:prSet/>
      <dgm:spPr/>
      <dgm:t>
        <a:bodyPr/>
        <a:lstStyle/>
        <a:p>
          <a:endParaRPr lang="en-GB"/>
        </a:p>
      </dgm:t>
    </dgm:pt>
    <dgm:pt modelId="{FEE5ABBC-8A5F-5C40-8642-173245625E41}" type="sibTrans" cxnId="{A45E168F-BC01-CB48-9BE1-531C91744BBF}">
      <dgm:prSet/>
      <dgm:spPr/>
      <dgm:t>
        <a:bodyPr/>
        <a:lstStyle/>
        <a:p>
          <a:endParaRPr lang="en-GB"/>
        </a:p>
      </dgm:t>
    </dgm:pt>
    <dgm:pt modelId="{58C41317-51A6-EA4F-A9F2-212C692E3402}">
      <dgm:prSet phldrT="[Text]"/>
      <dgm:spPr>
        <a:solidFill>
          <a:srgbClr val="FF0000"/>
        </a:solidFill>
      </dgm:spPr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GB" dirty="0">
              <a:solidFill>
                <a:schemeClr val="tx1"/>
              </a:solidFill>
            </a:rPr>
            <a:t> - Patient Records Database</a:t>
          </a:r>
          <a:br>
            <a:rPr lang="en-GB" dirty="0">
              <a:solidFill>
                <a:schemeClr val="tx1"/>
              </a:solidFill>
            </a:rPr>
          </a:br>
          <a:r>
            <a:rPr lang="en-GB" dirty="0">
              <a:solidFill>
                <a:schemeClr val="tx1"/>
              </a:solidFill>
            </a:rPr>
            <a:t> - Imaging Repository</a:t>
          </a:r>
          <a:br>
            <a:rPr lang="en-GB" dirty="0">
              <a:solidFill>
                <a:schemeClr val="tx1"/>
              </a:solidFill>
            </a:rPr>
          </a:br>
          <a:r>
            <a:rPr lang="en-GB" dirty="0">
              <a:solidFill>
                <a:schemeClr val="tx1"/>
              </a:solidFill>
            </a:rPr>
            <a:t> - Patient Management &amp; Billing</a:t>
          </a:r>
        </a:p>
      </dgm:t>
    </dgm:pt>
    <dgm:pt modelId="{86FBA304-07ED-D84E-81BC-687D7C993EF2}" type="parTrans" cxnId="{81C8F93F-2A6D-F847-885B-722519E28087}">
      <dgm:prSet/>
      <dgm:spPr/>
      <dgm:t>
        <a:bodyPr/>
        <a:lstStyle/>
        <a:p>
          <a:endParaRPr lang="en-GB"/>
        </a:p>
      </dgm:t>
    </dgm:pt>
    <dgm:pt modelId="{044D9449-E1C0-F842-9AFF-6835C6B8F3CA}" type="sibTrans" cxnId="{81C8F93F-2A6D-F847-885B-722519E28087}">
      <dgm:prSet/>
      <dgm:spPr/>
      <dgm:t>
        <a:bodyPr/>
        <a:lstStyle/>
        <a:p>
          <a:endParaRPr lang="en-GB"/>
        </a:p>
      </dgm:t>
    </dgm:pt>
    <dgm:pt modelId="{11AC7D4F-A83D-AE44-848A-B898EE995E2F}">
      <dgm:prSet phldrT="[Text]"/>
      <dgm:spPr>
        <a:solidFill>
          <a:srgbClr val="FF9500"/>
        </a:solidFill>
      </dgm:spPr>
      <dgm:t>
        <a:bodyPr/>
        <a:lstStyle/>
        <a:p>
          <a:pPr algn="l"/>
          <a:r>
            <a:rPr lang="en-GB" dirty="0">
              <a:solidFill>
                <a:schemeClr val="tx1"/>
              </a:solidFill>
            </a:rPr>
            <a:t> - Data Backup System</a:t>
          </a:r>
          <a:br>
            <a:rPr lang="en-GB" dirty="0">
              <a:solidFill>
                <a:schemeClr val="tx1"/>
              </a:solidFill>
            </a:rPr>
          </a:br>
          <a:r>
            <a:rPr lang="en-GB" dirty="0">
              <a:solidFill>
                <a:schemeClr val="tx1"/>
              </a:solidFill>
            </a:rPr>
            <a:t> - Web Portal</a:t>
          </a:r>
        </a:p>
      </dgm:t>
    </dgm:pt>
    <dgm:pt modelId="{06325A77-365D-AA4A-A66D-5A07C0F5C0EB}" type="parTrans" cxnId="{41F68C66-2729-674C-8CDA-48B21C738AE0}">
      <dgm:prSet/>
      <dgm:spPr/>
      <dgm:t>
        <a:bodyPr/>
        <a:lstStyle/>
        <a:p>
          <a:endParaRPr lang="en-GB"/>
        </a:p>
      </dgm:t>
    </dgm:pt>
    <dgm:pt modelId="{4076F976-F706-0A42-B595-E714A4792A8B}" type="sibTrans" cxnId="{41F68C66-2729-674C-8CDA-48B21C738AE0}">
      <dgm:prSet/>
      <dgm:spPr/>
      <dgm:t>
        <a:bodyPr/>
        <a:lstStyle/>
        <a:p>
          <a:endParaRPr lang="en-GB"/>
        </a:p>
      </dgm:t>
    </dgm:pt>
    <dgm:pt modelId="{A6DDEDD1-3E46-7249-AC0C-59328943EB73}">
      <dgm:prSet phldrT="[Text]"/>
      <dgm:spPr>
        <a:solidFill>
          <a:srgbClr val="FFFF00"/>
        </a:solidFill>
      </dgm:spPr>
      <dgm:t>
        <a:bodyPr/>
        <a:lstStyle/>
        <a:p>
          <a:pPr algn="l"/>
          <a:r>
            <a:rPr lang="en-GB" dirty="0">
              <a:solidFill>
                <a:schemeClr val="tx1"/>
              </a:solidFill>
            </a:rPr>
            <a:t> - Mobile App</a:t>
          </a:r>
        </a:p>
      </dgm:t>
    </dgm:pt>
    <dgm:pt modelId="{DDD115D5-0EEC-5847-A5F2-E3B8F3DDF2F8}" type="parTrans" cxnId="{222E5391-AB8D-8745-B9FA-2AFC9D2BE139}">
      <dgm:prSet/>
      <dgm:spPr/>
      <dgm:t>
        <a:bodyPr/>
        <a:lstStyle/>
        <a:p>
          <a:endParaRPr lang="en-GB"/>
        </a:p>
      </dgm:t>
    </dgm:pt>
    <dgm:pt modelId="{5D192037-0392-E843-9A7E-807B9BAEEEC3}" type="sibTrans" cxnId="{222E5391-AB8D-8745-B9FA-2AFC9D2BE139}">
      <dgm:prSet/>
      <dgm:spPr/>
      <dgm:t>
        <a:bodyPr/>
        <a:lstStyle/>
        <a:p>
          <a:endParaRPr lang="en-GB"/>
        </a:p>
      </dgm:t>
    </dgm:pt>
    <dgm:pt modelId="{2D6953DB-4F77-C049-9EB5-F6724CED2F1E}" type="pres">
      <dgm:prSet presAssocID="{BC13E3B7-943F-4F4F-BDEA-5CE2A8E648B8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3DC2649-BB00-5941-B772-2B54EA53B4AB}" type="pres">
      <dgm:prSet presAssocID="{EA5690DA-937A-F046-84EA-6E79327CC92E}" presName="root1" presStyleCnt="0"/>
      <dgm:spPr/>
    </dgm:pt>
    <dgm:pt modelId="{C1822707-E20E-D247-9EFB-816EE30C1C4B}" type="pres">
      <dgm:prSet presAssocID="{EA5690DA-937A-F046-84EA-6E79327CC92E}" presName="LevelOneTextNode" presStyleLbl="node0" presStyleIdx="0" presStyleCnt="1" custScaleY="67275">
        <dgm:presLayoutVars>
          <dgm:chPref val="3"/>
        </dgm:presLayoutVars>
      </dgm:prSet>
      <dgm:spPr/>
    </dgm:pt>
    <dgm:pt modelId="{4AD0F0E4-278D-D741-85BB-D9BD549FFAE5}" type="pres">
      <dgm:prSet presAssocID="{EA5690DA-937A-F046-84EA-6E79327CC92E}" presName="level2hierChild" presStyleCnt="0"/>
      <dgm:spPr/>
    </dgm:pt>
    <dgm:pt modelId="{FE8CFE43-DF57-E64A-92C7-C4AB209FADBB}" type="pres">
      <dgm:prSet presAssocID="{86FBA304-07ED-D84E-81BC-687D7C993EF2}" presName="conn2-1" presStyleLbl="parChTrans1D2" presStyleIdx="0" presStyleCnt="3"/>
      <dgm:spPr/>
    </dgm:pt>
    <dgm:pt modelId="{03900536-7186-EE4A-AD22-071FAC6DF694}" type="pres">
      <dgm:prSet presAssocID="{86FBA304-07ED-D84E-81BC-687D7C993EF2}" presName="connTx" presStyleLbl="parChTrans1D2" presStyleIdx="0" presStyleCnt="3"/>
      <dgm:spPr/>
    </dgm:pt>
    <dgm:pt modelId="{70B71F51-E904-5349-A6CE-8930F7A0E779}" type="pres">
      <dgm:prSet presAssocID="{58C41317-51A6-EA4F-A9F2-212C692E3402}" presName="root2" presStyleCnt="0"/>
      <dgm:spPr/>
    </dgm:pt>
    <dgm:pt modelId="{F5F62E5B-D064-584F-AFA0-06D73EF86AB4}" type="pres">
      <dgm:prSet presAssocID="{58C41317-51A6-EA4F-A9F2-212C692E3402}" presName="LevelTwoTextNode" presStyleLbl="node2" presStyleIdx="0" presStyleCnt="3">
        <dgm:presLayoutVars>
          <dgm:chPref val="3"/>
        </dgm:presLayoutVars>
      </dgm:prSet>
      <dgm:spPr/>
    </dgm:pt>
    <dgm:pt modelId="{244C7014-93A2-4D45-9266-1E167D024013}" type="pres">
      <dgm:prSet presAssocID="{58C41317-51A6-EA4F-A9F2-212C692E3402}" presName="level3hierChild" presStyleCnt="0"/>
      <dgm:spPr/>
    </dgm:pt>
    <dgm:pt modelId="{FAD94181-7107-DC41-B215-6274C2A4DD57}" type="pres">
      <dgm:prSet presAssocID="{06325A77-365D-AA4A-A66D-5A07C0F5C0EB}" presName="conn2-1" presStyleLbl="parChTrans1D2" presStyleIdx="1" presStyleCnt="3"/>
      <dgm:spPr/>
    </dgm:pt>
    <dgm:pt modelId="{B57B7A82-A2B5-174B-97A8-87BC987A0BF3}" type="pres">
      <dgm:prSet presAssocID="{06325A77-365D-AA4A-A66D-5A07C0F5C0EB}" presName="connTx" presStyleLbl="parChTrans1D2" presStyleIdx="1" presStyleCnt="3"/>
      <dgm:spPr/>
    </dgm:pt>
    <dgm:pt modelId="{47B42F66-59A8-C347-9BF9-58F53181B8E4}" type="pres">
      <dgm:prSet presAssocID="{11AC7D4F-A83D-AE44-848A-B898EE995E2F}" presName="root2" presStyleCnt="0"/>
      <dgm:spPr/>
    </dgm:pt>
    <dgm:pt modelId="{7B856724-C0D8-DA4D-A68A-AAF3B0DB23BD}" type="pres">
      <dgm:prSet presAssocID="{11AC7D4F-A83D-AE44-848A-B898EE995E2F}" presName="LevelTwoTextNode" presStyleLbl="node2" presStyleIdx="1" presStyleCnt="3">
        <dgm:presLayoutVars>
          <dgm:chPref val="3"/>
        </dgm:presLayoutVars>
      </dgm:prSet>
      <dgm:spPr/>
    </dgm:pt>
    <dgm:pt modelId="{8F46016F-7CE1-9D40-8C86-2386B21058D7}" type="pres">
      <dgm:prSet presAssocID="{11AC7D4F-A83D-AE44-848A-B898EE995E2F}" presName="level3hierChild" presStyleCnt="0"/>
      <dgm:spPr/>
    </dgm:pt>
    <dgm:pt modelId="{A10B1C79-0B66-8541-BAEA-55D843CF66E9}" type="pres">
      <dgm:prSet presAssocID="{DDD115D5-0EEC-5847-A5F2-E3B8F3DDF2F8}" presName="conn2-1" presStyleLbl="parChTrans1D2" presStyleIdx="2" presStyleCnt="3"/>
      <dgm:spPr/>
    </dgm:pt>
    <dgm:pt modelId="{43227106-A095-9A4F-AC17-B8B6F68A98B5}" type="pres">
      <dgm:prSet presAssocID="{DDD115D5-0EEC-5847-A5F2-E3B8F3DDF2F8}" presName="connTx" presStyleLbl="parChTrans1D2" presStyleIdx="2" presStyleCnt="3"/>
      <dgm:spPr/>
    </dgm:pt>
    <dgm:pt modelId="{AF0D5AE7-4358-2043-8895-4E059A1DC0CA}" type="pres">
      <dgm:prSet presAssocID="{A6DDEDD1-3E46-7249-AC0C-59328943EB73}" presName="root2" presStyleCnt="0"/>
      <dgm:spPr/>
    </dgm:pt>
    <dgm:pt modelId="{B823B884-1CF1-AF4E-8C3E-9FF99B6A7A8A}" type="pres">
      <dgm:prSet presAssocID="{A6DDEDD1-3E46-7249-AC0C-59328943EB73}" presName="LevelTwoTextNode" presStyleLbl="node2" presStyleIdx="2" presStyleCnt="3">
        <dgm:presLayoutVars>
          <dgm:chPref val="3"/>
        </dgm:presLayoutVars>
      </dgm:prSet>
      <dgm:spPr/>
    </dgm:pt>
    <dgm:pt modelId="{AC76CC12-435E-A04A-A3D6-DB23410E546E}" type="pres">
      <dgm:prSet presAssocID="{A6DDEDD1-3E46-7249-AC0C-59328943EB73}" presName="level3hierChild" presStyleCnt="0"/>
      <dgm:spPr/>
    </dgm:pt>
  </dgm:ptLst>
  <dgm:cxnLst>
    <dgm:cxn modelId="{5F6DBA0A-87F8-8143-B642-BDC22D98A06E}" type="presOf" srcId="{06325A77-365D-AA4A-A66D-5A07C0F5C0EB}" destId="{FAD94181-7107-DC41-B215-6274C2A4DD57}" srcOrd="0" destOrd="0" presId="urn:microsoft.com/office/officeart/2008/layout/HorizontalMultiLevelHierarchy"/>
    <dgm:cxn modelId="{430A8B0C-B0FF-C34B-8642-82B8D4E4D33B}" type="presOf" srcId="{86FBA304-07ED-D84E-81BC-687D7C993EF2}" destId="{03900536-7186-EE4A-AD22-071FAC6DF694}" srcOrd="1" destOrd="0" presId="urn:microsoft.com/office/officeart/2008/layout/HorizontalMultiLevelHierarchy"/>
    <dgm:cxn modelId="{C4834E14-7FE7-F54B-ACCE-86EE9600405B}" type="presOf" srcId="{58C41317-51A6-EA4F-A9F2-212C692E3402}" destId="{F5F62E5B-D064-584F-AFA0-06D73EF86AB4}" srcOrd="0" destOrd="0" presId="urn:microsoft.com/office/officeart/2008/layout/HorizontalMultiLevelHierarchy"/>
    <dgm:cxn modelId="{81C8F93F-2A6D-F847-885B-722519E28087}" srcId="{EA5690DA-937A-F046-84EA-6E79327CC92E}" destId="{58C41317-51A6-EA4F-A9F2-212C692E3402}" srcOrd="0" destOrd="0" parTransId="{86FBA304-07ED-D84E-81BC-687D7C993EF2}" sibTransId="{044D9449-E1C0-F842-9AFF-6835C6B8F3CA}"/>
    <dgm:cxn modelId="{6506F262-FBE1-714F-9A42-9CEC976D6361}" type="presOf" srcId="{EA5690DA-937A-F046-84EA-6E79327CC92E}" destId="{C1822707-E20E-D247-9EFB-816EE30C1C4B}" srcOrd="0" destOrd="0" presId="urn:microsoft.com/office/officeart/2008/layout/HorizontalMultiLevelHierarchy"/>
    <dgm:cxn modelId="{41F68C66-2729-674C-8CDA-48B21C738AE0}" srcId="{EA5690DA-937A-F046-84EA-6E79327CC92E}" destId="{11AC7D4F-A83D-AE44-848A-B898EE995E2F}" srcOrd="1" destOrd="0" parTransId="{06325A77-365D-AA4A-A66D-5A07C0F5C0EB}" sibTransId="{4076F976-F706-0A42-B595-E714A4792A8B}"/>
    <dgm:cxn modelId="{C3BB246D-8E16-C64B-A2D8-DA7C990F1BEB}" type="presOf" srcId="{DDD115D5-0EEC-5847-A5F2-E3B8F3DDF2F8}" destId="{43227106-A095-9A4F-AC17-B8B6F68A98B5}" srcOrd="1" destOrd="0" presId="urn:microsoft.com/office/officeart/2008/layout/HorizontalMultiLevelHierarchy"/>
    <dgm:cxn modelId="{C22AC885-D8F7-724A-BBCD-8C29433B668A}" type="presOf" srcId="{BC13E3B7-943F-4F4F-BDEA-5CE2A8E648B8}" destId="{2D6953DB-4F77-C049-9EB5-F6724CED2F1E}" srcOrd="0" destOrd="0" presId="urn:microsoft.com/office/officeart/2008/layout/HorizontalMultiLevelHierarchy"/>
    <dgm:cxn modelId="{7417748C-F915-5447-A70B-519963C8B9CF}" type="presOf" srcId="{86FBA304-07ED-D84E-81BC-687D7C993EF2}" destId="{FE8CFE43-DF57-E64A-92C7-C4AB209FADBB}" srcOrd="0" destOrd="0" presId="urn:microsoft.com/office/officeart/2008/layout/HorizontalMultiLevelHierarchy"/>
    <dgm:cxn modelId="{A45E168F-BC01-CB48-9BE1-531C91744BBF}" srcId="{BC13E3B7-943F-4F4F-BDEA-5CE2A8E648B8}" destId="{EA5690DA-937A-F046-84EA-6E79327CC92E}" srcOrd="0" destOrd="0" parTransId="{EE0C5A01-D5C0-0145-A810-E1388EE19062}" sibTransId="{FEE5ABBC-8A5F-5C40-8642-173245625E41}"/>
    <dgm:cxn modelId="{222E5391-AB8D-8745-B9FA-2AFC9D2BE139}" srcId="{EA5690DA-937A-F046-84EA-6E79327CC92E}" destId="{A6DDEDD1-3E46-7249-AC0C-59328943EB73}" srcOrd="2" destOrd="0" parTransId="{DDD115D5-0EEC-5847-A5F2-E3B8F3DDF2F8}" sibTransId="{5D192037-0392-E843-9A7E-807B9BAEEEC3}"/>
    <dgm:cxn modelId="{39F77096-5816-E640-993B-9B3194CF0EB4}" type="presOf" srcId="{06325A77-365D-AA4A-A66D-5A07C0F5C0EB}" destId="{B57B7A82-A2B5-174B-97A8-87BC987A0BF3}" srcOrd="1" destOrd="0" presId="urn:microsoft.com/office/officeart/2008/layout/HorizontalMultiLevelHierarchy"/>
    <dgm:cxn modelId="{A8C266EB-CE47-E341-9DBF-986ACEBD1CB3}" type="presOf" srcId="{11AC7D4F-A83D-AE44-848A-B898EE995E2F}" destId="{7B856724-C0D8-DA4D-A68A-AAF3B0DB23BD}" srcOrd="0" destOrd="0" presId="urn:microsoft.com/office/officeart/2008/layout/HorizontalMultiLevelHierarchy"/>
    <dgm:cxn modelId="{B4E551EE-BF2C-814B-B942-79AB28973D11}" type="presOf" srcId="{DDD115D5-0EEC-5847-A5F2-E3B8F3DDF2F8}" destId="{A10B1C79-0B66-8541-BAEA-55D843CF66E9}" srcOrd="0" destOrd="0" presId="urn:microsoft.com/office/officeart/2008/layout/HorizontalMultiLevelHierarchy"/>
    <dgm:cxn modelId="{0DDA72FE-F1D7-2647-87E9-36021F39F80A}" type="presOf" srcId="{A6DDEDD1-3E46-7249-AC0C-59328943EB73}" destId="{B823B884-1CF1-AF4E-8C3E-9FF99B6A7A8A}" srcOrd="0" destOrd="0" presId="urn:microsoft.com/office/officeart/2008/layout/HorizontalMultiLevelHierarchy"/>
    <dgm:cxn modelId="{E92498EF-AF08-7546-92C7-14660D2D7716}" type="presParOf" srcId="{2D6953DB-4F77-C049-9EB5-F6724CED2F1E}" destId="{E3DC2649-BB00-5941-B772-2B54EA53B4AB}" srcOrd="0" destOrd="0" presId="urn:microsoft.com/office/officeart/2008/layout/HorizontalMultiLevelHierarchy"/>
    <dgm:cxn modelId="{7B56B83A-50B7-7E43-A3C3-B80B4A87F986}" type="presParOf" srcId="{E3DC2649-BB00-5941-B772-2B54EA53B4AB}" destId="{C1822707-E20E-D247-9EFB-816EE30C1C4B}" srcOrd="0" destOrd="0" presId="urn:microsoft.com/office/officeart/2008/layout/HorizontalMultiLevelHierarchy"/>
    <dgm:cxn modelId="{D2F51279-594B-B64E-B336-A0BB9B3ADBB4}" type="presParOf" srcId="{E3DC2649-BB00-5941-B772-2B54EA53B4AB}" destId="{4AD0F0E4-278D-D741-85BB-D9BD549FFAE5}" srcOrd="1" destOrd="0" presId="urn:microsoft.com/office/officeart/2008/layout/HorizontalMultiLevelHierarchy"/>
    <dgm:cxn modelId="{B5BAE348-8E22-E746-B523-FB3EE5A163A1}" type="presParOf" srcId="{4AD0F0E4-278D-D741-85BB-D9BD549FFAE5}" destId="{FE8CFE43-DF57-E64A-92C7-C4AB209FADBB}" srcOrd="0" destOrd="0" presId="urn:microsoft.com/office/officeart/2008/layout/HorizontalMultiLevelHierarchy"/>
    <dgm:cxn modelId="{29A20B54-67F9-D74D-B7D0-570A3F5D712A}" type="presParOf" srcId="{FE8CFE43-DF57-E64A-92C7-C4AB209FADBB}" destId="{03900536-7186-EE4A-AD22-071FAC6DF694}" srcOrd="0" destOrd="0" presId="urn:microsoft.com/office/officeart/2008/layout/HorizontalMultiLevelHierarchy"/>
    <dgm:cxn modelId="{75CE2112-0D79-E942-9EAC-277F7E89DB29}" type="presParOf" srcId="{4AD0F0E4-278D-D741-85BB-D9BD549FFAE5}" destId="{70B71F51-E904-5349-A6CE-8930F7A0E779}" srcOrd="1" destOrd="0" presId="urn:microsoft.com/office/officeart/2008/layout/HorizontalMultiLevelHierarchy"/>
    <dgm:cxn modelId="{254E478A-2819-9A4B-AB85-75D4D2A2D37F}" type="presParOf" srcId="{70B71F51-E904-5349-A6CE-8930F7A0E779}" destId="{F5F62E5B-D064-584F-AFA0-06D73EF86AB4}" srcOrd="0" destOrd="0" presId="urn:microsoft.com/office/officeart/2008/layout/HorizontalMultiLevelHierarchy"/>
    <dgm:cxn modelId="{85D654D3-F8CA-AC4B-9470-D675A014E717}" type="presParOf" srcId="{70B71F51-E904-5349-A6CE-8930F7A0E779}" destId="{244C7014-93A2-4D45-9266-1E167D024013}" srcOrd="1" destOrd="0" presId="urn:microsoft.com/office/officeart/2008/layout/HorizontalMultiLevelHierarchy"/>
    <dgm:cxn modelId="{5F5B6BAE-BB6E-FD48-B425-0B21EA5BEC58}" type="presParOf" srcId="{4AD0F0E4-278D-D741-85BB-D9BD549FFAE5}" destId="{FAD94181-7107-DC41-B215-6274C2A4DD57}" srcOrd="2" destOrd="0" presId="urn:microsoft.com/office/officeart/2008/layout/HorizontalMultiLevelHierarchy"/>
    <dgm:cxn modelId="{EABFA34E-3D3A-6944-9581-77ACF30E48B3}" type="presParOf" srcId="{FAD94181-7107-DC41-B215-6274C2A4DD57}" destId="{B57B7A82-A2B5-174B-97A8-87BC987A0BF3}" srcOrd="0" destOrd="0" presId="urn:microsoft.com/office/officeart/2008/layout/HorizontalMultiLevelHierarchy"/>
    <dgm:cxn modelId="{108543FE-5D54-D449-8F40-13343E2A4C50}" type="presParOf" srcId="{4AD0F0E4-278D-D741-85BB-D9BD549FFAE5}" destId="{47B42F66-59A8-C347-9BF9-58F53181B8E4}" srcOrd="3" destOrd="0" presId="urn:microsoft.com/office/officeart/2008/layout/HorizontalMultiLevelHierarchy"/>
    <dgm:cxn modelId="{E96092F6-9ED9-EA40-A600-D9726194E5BD}" type="presParOf" srcId="{47B42F66-59A8-C347-9BF9-58F53181B8E4}" destId="{7B856724-C0D8-DA4D-A68A-AAF3B0DB23BD}" srcOrd="0" destOrd="0" presId="urn:microsoft.com/office/officeart/2008/layout/HorizontalMultiLevelHierarchy"/>
    <dgm:cxn modelId="{96EB58C7-D422-8040-B8FD-4417BE9D1F58}" type="presParOf" srcId="{47B42F66-59A8-C347-9BF9-58F53181B8E4}" destId="{8F46016F-7CE1-9D40-8C86-2386B21058D7}" srcOrd="1" destOrd="0" presId="urn:microsoft.com/office/officeart/2008/layout/HorizontalMultiLevelHierarchy"/>
    <dgm:cxn modelId="{789B61F7-C255-5D43-A299-805779389C85}" type="presParOf" srcId="{4AD0F0E4-278D-D741-85BB-D9BD549FFAE5}" destId="{A10B1C79-0B66-8541-BAEA-55D843CF66E9}" srcOrd="4" destOrd="0" presId="urn:microsoft.com/office/officeart/2008/layout/HorizontalMultiLevelHierarchy"/>
    <dgm:cxn modelId="{72ADB5DE-8C04-9348-9A9F-4BBE8157421F}" type="presParOf" srcId="{A10B1C79-0B66-8541-BAEA-55D843CF66E9}" destId="{43227106-A095-9A4F-AC17-B8B6F68A98B5}" srcOrd="0" destOrd="0" presId="urn:microsoft.com/office/officeart/2008/layout/HorizontalMultiLevelHierarchy"/>
    <dgm:cxn modelId="{7FD6E818-0F3B-8648-B976-BD834C724284}" type="presParOf" srcId="{4AD0F0E4-278D-D741-85BB-D9BD549FFAE5}" destId="{AF0D5AE7-4358-2043-8895-4E059A1DC0CA}" srcOrd="5" destOrd="0" presId="urn:microsoft.com/office/officeart/2008/layout/HorizontalMultiLevelHierarchy"/>
    <dgm:cxn modelId="{45FDD511-8B52-9D48-845B-3BA6B5A23F7F}" type="presParOf" srcId="{AF0D5AE7-4358-2043-8895-4E059A1DC0CA}" destId="{B823B884-1CF1-AF4E-8C3E-9FF99B6A7A8A}" srcOrd="0" destOrd="0" presId="urn:microsoft.com/office/officeart/2008/layout/HorizontalMultiLevelHierarchy"/>
    <dgm:cxn modelId="{84A2FEF5-32EF-A248-BA8A-CD656FFE6C18}" type="presParOf" srcId="{AF0D5AE7-4358-2043-8895-4E059A1DC0CA}" destId="{AC76CC12-435E-A04A-A3D6-DB23410E546E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0B69A6-DEA4-4B4C-85B0-908BC1D71FB1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59A60-D0FD-4C2E-AD8F-03F81A4AE0C7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66DEE-C72A-4846-B4DA-8C6BD4318A03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noProof="0" dirty="0"/>
            <a:t>Migration is going to be applied on systems like patient management that host sensitive personal and medical information.,</a:t>
          </a:r>
        </a:p>
      </dsp:txBody>
      <dsp:txXfrm>
        <a:off x="1507738" y="707092"/>
        <a:ext cx="9007861" cy="1305401"/>
      </dsp:txXfrm>
    </dsp:sp>
    <dsp:sp modelId="{5F2F37DD-E6B5-47DC-97D6-A48BCF8A0F78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B27E7C-53B2-4DC4-99F0-94BC69D82EAF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C3CAD-A55E-4255-872D-37AE7AC49973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noProof="0" dirty="0"/>
            <a:t>Only patient and medical information from Data Backup system is going to be migrated to the cloud.</a:t>
          </a:r>
        </a:p>
      </dsp:txBody>
      <dsp:txXfrm>
        <a:off x="1507738" y="2338844"/>
        <a:ext cx="9007861" cy="13054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B1C79-0B66-8541-BAEA-55D843CF66E9}">
      <dsp:nvSpPr>
        <dsp:cNvPr id="0" name=""/>
        <dsp:cNvSpPr/>
      </dsp:nvSpPr>
      <dsp:spPr>
        <a:xfrm>
          <a:off x="3309760" y="1775212"/>
          <a:ext cx="442524" cy="8432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1262" y="0"/>
              </a:lnTo>
              <a:lnTo>
                <a:pt x="221262" y="843225"/>
              </a:lnTo>
              <a:lnTo>
                <a:pt x="442524" y="84322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507215" y="2173017"/>
        <a:ext cx="47614" cy="47614"/>
      </dsp:txXfrm>
    </dsp:sp>
    <dsp:sp modelId="{FAD94181-7107-DC41-B215-6274C2A4DD57}">
      <dsp:nvSpPr>
        <dsp:cNvPr id="0" name=""/>
        <dsp:cNvSpPr/>
      </dsp:nvSpPr>
      <dsp:spPr>
        <a:xfrm>
          <a:off x="3309760" y="1729492"/>
          <a:ext cx="44252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2524" y="457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519960" y="1764148"/>
        <a:ext cx="22126" cy="22126"/>
      </dsp:txXfrm>
    </dsp:sp>
    <dsp:sp modelId="{FE8CFE43-DF57-E64A-92C7-C4AB209FADBB}">
      <dsp:nvSpPr>
        <dsp:cNvPr id="0" name=""/>
        <dsp:cNvSpPr/>
      </dsp:nvSpPr>
      <dsp:spPr>
        <a:xfrm>
          <a:off x="3309760" y="931986"/>
          <a:ext cx="442524" cy="843225"/>
        </a:xfrm>
        <a:custGeom>
          <a:avLst/>
          <a:gdLst/>
          <a:ahLst/>
          <a:cxnLst/>
          <a:rect l="0" t="0" r="0" b="0"/>
          <a:pathLst>
            <a:path>
              <a:moveTo>
                <a:pt x="0" y="843225"/>
              </a:moveTo>
              <a:lnTo>
                <a:pt x="221262" y="843225"/>
              </a:lnTo>
              <a:lnTo>
                <a:pt x="221262" y="0"/>
              </a:lnTo>
              <a:lnTo>
                <a:pt x="442524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507215" y="1329791"/>
        <a:ext cx="47614" cy="47614"/>
      </dsp:txXfrm>
    </dsp:sp>
    <dsp:sp modelId="{C1822707-E20E-D247-9EFB-816EE30C1C4B}">
      <dsp:nvSpPr>
        <dsp:cNvPr id="0" name=""/>
        <dsp:cNvSpPr/>
      </dsp:nvSpPr>
      <dsp:spPr>
        <a:xfrm rot="16200000">
          <a:off x="1778196" y="1437921"/>
          <a:ext cx="2388547" cy="674580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tx1"/>
              </a:solidFill>
            </a:rPr>
            <a:t>Critical Assets</a:t>
          </a:r>
        </a:p>
      </dsp:txBody>
      <dsp:txXfrm>
        <a:off x="1778196" y="1437921"/>
        <a:ext cx="2388547" cy="674580"/>
      </dsp:txXfrm>
    </dsp:sp>
    <dsp:sp modelId="{F5F62E5B-D064-584F-AFA0-06D73EF86AB4}">
      <dsp:nvSpPr>
        <dsp:cNvPr id="0" name=""/>
        <dsp:cNvSpPr/>
      </dsp:nvSpPr>
      <dsp:spPr>
        <a:xfrm>
          <a:off x="3752285" y="594696"/>
          <a:ext cx="2212624" cy="674580"/>
        </a:xfrm>
        <a:prstGeom prst="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200" kern="1200" dirty="0">
              <a:solidFill>
                <a:schemeClr val="tx1"/>
              </a:solidFill>
            </a:rPr>
            <a:t> - Patient Records Database</a:t>
          </a:r>
          <a:br>
            <a:rPr lang="en-GB" sz="1200" kern="1200" dirty="0">
              <a:solidFill>
                <a:schemeClr val="tx1"/>
              </a:solidFill>
            </a:rPr>
          </a:br>
          <a:r>
            <a:rPr lang="en-GB" sz="1200" kern="1200" dirty="0">
              <a:solidFill>
                <a:schemeClr val="tx1"/>
              </a:solidFill>
            </a:rPr>
            <a:t> - Imaging Repository</a:t>
          </a:r>
          <a:br>
            <a:rPr lang="en-GB" sz="1200" kern="1200" dirty="0">
              <a:solidFill>
                <a:schemeClr val="tx1"/>
              </a:solidFill>
            </a:rPr>
          </a:br>
          <a:r>
            <a:rPr lang="en-GB" sz="1200" kern="1200" dirty="0">
              <a:solidFill>
                <a:schemeClr val="tx1"/>
              </a:solidFill>
            </a:rPr>
            <a:t> - Patient Management &amp; Billing</a:t>
          </a:r>
        </a:p>
      </dsp:txBody>
      <dsp:txXfrm>
        <a:off x="3752285" y="594696"/>
        <a:ext cx="2212624" cy="674580"/>
      </dsp:txXfrm>
    </dsp:sp>
    <dsp:sp modelId="{7B856724-C0D8-DA4D-A68A-AAF3B0DB23BD}">
      <dsp:nvSpPr>
        <dsp:cNvPr id="0" name=""/>
        <dsp:cNvSpPr/>
      </dsp:nvSpPr>
      <dsp:spPr>
        <a:xfrm>
          <a:off x="3752285" y="1437921"/>
          <a:ext cx="2212624" cy="674580"/>
        </a:xfrm>
        <a:prstGeom prst="rect">
          <a:avLst/>
        </a:prstGeom>
        <a:solidFill>
          <a:srgbClr val="FF95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solidFill>
                <a:schemeClr val="tx1"/>
              </a:solidFill>
            </a:rPr>
            <a:t> - Data Backup System</a:t>
          </a:r>
          <a:br>
            <a:rPr lang="en-GB" sz="1200" kern="1200" dirty="0">
              <a:solidFill>
                <a:schemeClr val="tx1"/>
              </a:solidFill>
            </a:rPr>
          </a:br>
          <a:r>
            <a:rPr lang="en-GB" sz="1200" kern="1200" dirty="0">
              <a:solidFill>
                <a:schemeClr val="tx1"/>
              </a:solidFill>
            </a:rPr>
            <a:t> - Web Portal</a:t>
          </a:r>
        </a:p>
      </dsp:txBody>
      <dsp:txXfrm>
        <a:off x="3752285" y="1437921"/>
        <a:ext cx="2212624" cy="674580"/>
      </dsp:txXfrm>
    </dsp:sp>
    <dsp:sp modelId="{B823B884-1CF1-AF4E-8C3E-9FF99B6A7A8A}">
      <dsp:nvSpPr>
        <dsp:cNvPr id="0" name=""/>
        <dsp:cNvSpPr/>
      </dsp:nvSpPr>
      <dsp:spPr>
        <a:xfrm>
          <a:off x="3752285" y="2281147"/>
          <a:ext cx="2212624" cy="674580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solidFill>
                <a:schemeClr val="tx1"/>
              </a:solidFill>
            </a:rPr>
            <a:t> - Mobile App</a:t>
          </a:r>
        </a:p>
      </dsp:txBody>
      <dsp:txXfrm>
        <a:off x="3752285" y="2281147"/>
        <a:ext cx="2212624" cy="674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18A4D-FFC9-DD73-D0AC-C6F2F5884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24DCF5-F55B-F18A-809A-D18DD4A8C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D16BB62-7AF9-DDBF-C6C9-FAE45B4AA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8C27-58FB-44E3-B520-C625F6B8B93A}" type="datetimeFigureOut">
              <a:rPr lang="pt-PT" smtClean="0"/>
              <a:t>02/11/25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67C3FC8-375E-9938-9A52-7DE7130B9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96B6061-4FC2-107A-C787-B00470BE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4ECE-E873-4B97-BCFD-B0DDA51CCA3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32862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63FE7-44F4-E9F6-4C31-7CFAD08B5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20F6CE5-ADDF-5BDB-A0CF-B1BE1F91C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843E6B3-6B73-8CAE-5C06-C106525C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8C27-58FB-44E3-B520-C625F6B8B93A}" type="datetimeFigureOut">
              <a:rPr lang="pt-PT" smtClean="0"/>
              <a:t>02/11/25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1BE2410-E8E8-FFCA-A114-CB94D6B8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D871214-DFDA-CDA9-7EB6-3A1DADC2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4ECE-E873-4B97-BCFD-B0DDA51CCA3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34788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772F8-F79D-2B89-A00A-807048076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3480DB2-B382-8B11-24E7-5C8A71B91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3FC7B7D-1ECF-3A07-FA87-4D5761F72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8C27-58FB-44E3-B520-C625F6B8B93A}" type="datetimeFigureOut">
              <a:rPr lang="pt-PT" smtClean="0"/>
              <a:t>02/11/25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F7796FF-F73B-BEC6-3C9A-A4177A332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C3D2158-0401-FDC3-B1C0-BB35AF4B0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4ECE-E873-4B97-BCFD-B0DDA51CCA3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7391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4BB21-5D9F-2F1E-D2B2-C1187EBA5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6B02DF4-FE9F-05FF-613E-B3451768F5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61089BB-1F43-3D90-2595-E4FEB07A0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4047AB8-29B3-1FA3-8A87-E8412E7AE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8C27-58FB-44E3-B520-C625F6B8B93A}" type="datetimeFigureOut">
              <a:rPr lang="pt-PT" smtClean="0"/>
              <a:t>02/11/25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F0239B9-AC39-1C25-EF6F-206C23B6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716667A-F5A3-5DE9-7508-28C8FB58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4ECE-E873-4B97-BCFD-B0DDA51CCA3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9821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8F35F-20F4-84C7-80C0-5FA1DC8A2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2B56CE7-E1B0-566B-456F-07BE9124D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E657811-401F-3778-7036-2F260305F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E6BE8BF5-67E7-5318-88F0-1B1F75AFD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82CDD648-0C10-23B8-7DB0-97BE1845F8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0635EFFA-EE95-20AA-F995-547E2770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8C27-58FB-44E3-B520-C625F6B8B93A}" type="datetimeFigureOut">
              <a:rPr lang="pt-PT" smtClean="0"/>
              <a:t>02/11/25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1332C43-F2B5-1690-389C-B3AE4622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8FDFDF05-959F-147E-BE3E-02B16AADA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4ECE-E873-4B97-BCFD-B0DDA51CCA3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3243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71446-32FB-3096-E48B-F432FF658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5D631044-15EA-8C63-FBA5-3FDD8B812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8C27-58FB-44E3-B520-C625F6B8B93A}" type="datetimeFigureOut">
              <a:rPr lang="pt-PT" smtClean="0"/>
              <a:t>02/11/25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509E311-715B-ADF7-6CF3-CA4198BC5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E9F592DD-2783-3BA8-0B97-44259528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4ECE-E873-4B97-BCFD-B0DDA51CCA3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835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3C89B5A3-C78F-DDEA-179D-242114C9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8C27-58FB-44E3-B520-C625F6B8B93A}" type="datetimeFigureOut">
              <a:rPr lang="pt-PT" smtClean="0"/>
              <a:t>02/11/25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0416E3D3-EC1A-5B05-634C-C6A15A6EE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87CC4A8-B1C9-9D74-BAFC-600983D1F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4ECE-E873-4B97-BCFD-B0DDA51CCA3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28665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2F72F-D87D-43CD-B3F9-FE7BF99A1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2AF9F90-D1D0-42E8-C2E3-845442564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7F50DE5-5173-0125-321F-5F1033748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02D5265-439E-ACE5-D429-A91E70E95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8C27-58FB-44E3-B520-C625F6B8B93A}" type="datetimeFigureOut">
              <a:rPr lang="pt-PT" smtClean="0"/>
              <a:t>02/11/25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97043DC-DF7D-13F5-2BB1-0E70588C2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4DE342B-BAF1-21C3-7024-0F4F5736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4ECE-E873-4B97-BCFD-B0DDA51CCA3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97577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07CEB-980D-7425-A750-F41E3E8E0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EF28C94B-DEAC-8CE0-1498-1FA8590474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5AAC7D9-E7BD-B3A6-20E7-ADF66127A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2B5A03F-1382-4152-DC19-A39ED9FC0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8C27-58FB-44E3-B520-C625F6B8B93A}" type="datetimeFigureOut">
              <a:rPr lang="pt-PT" smtClean="0"/>
              <a:t>02/11/25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81BD37F-C88A-3816-2D51-478EC6A78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6009BDC-1F7E-073A-C2EE-881D457FC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4ECE-E873-4B97-BCFD-B0DDA51CCA3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71167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4D2A3-406B-4A89-EB59-FF1C638E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9083633-0063-BCC2-1237-28C6CBA71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B3C80D5-8301-7D23-2AF4-2C1A782E8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8C27-58FB-44E3-B520-C625F6B8B93A}" type="datetimeFigureOut">
              <a:rPr lang="pt-PT" smtClean="0"/>
              <a:t>02/11/25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DAE01D0-F7AC-B499-DE8A-907705FA0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BF5F8E0-E36F-7BA4-E1B3-995BC93D3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4ECE-E873-4B97-BCFD-B0DDA51CCA3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922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CCDCE8-B19D-A5AE-067B-1A2B097BA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4819288-A01D-1066-0231-ADF2E3E09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309C781-FB27-D839-D116-4635C4E63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8C27-58FB-44E3-B520-C625F6B8B93A}" type="datetimeFigureOut">
              <a:rPr lang="pt-PT" smtClean="0"/>
              <a:t>02/11/25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9445F0E-D34A-378B-483D-49079B80F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DE64E32-E306-DCBF-2905-6AAB204F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4ECE-E873-4B97-BCFD-B0DDA51CCA3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977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C7B50023-2A43-885D-5BAD-F8645892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CD7A11C-FB51-2648-A981-256E4F4B7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853F2CA-9A85-9796-2A79-0569229CD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C8C27-58FB-44E3-B520-C625F6B8B93A}" type="datetimeFigureOut">
              <a:rPr lang="pt-PT" smtClean="0"/>
              <a:t>02/11/25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21B5596-C2CA-F5AE-887B-0D9583694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6F6B058-8BB4-FEA0-1F25-073E5CD6A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34ECE-E873-4B97-BCFD-B0DDA51CCA3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920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91F9DA-D424-6185-8B83-0E2B0397C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21D2E4-BCAD-DA5A-03C4-C4E60371D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30CD2D-93C9-6A01-53F4-C44DBA4FD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DF7A8F-80F9-7B04-DE9A-402062F9F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AA33A5-D46C-293B-BB03-1A41B744E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89AA3A-A6D3-64A2-C603-CAD1B03F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noProof="0" dirty="0">
                <a:solidFill>
                  <a:srgbClr val="FFFFFF"/>
                </a:solidFill>
              </a:rPr>
              <a:t>Assumptions</a:t>
            </a:r>
          </a:p>
        </p:txBody>
      </p:sp>
      <p:graphicFrame>
        <p:nvGraphicFramePr>
          <p:cNvPr id="21" name="Content Placeholder 3">
            <a:extLst>
              <a:ext uri="{FF2B5EF4-FFF2-40B4-BE49-F238E27FC236}">
                <a16:creationId xmlns:a16="http://schemas.microsoft.com/office/drawing/2014/main" id="{C4A5EE3F-F3CE-83B2-86DB-34A1125AA0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644214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6894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DFFB29-6F0A-0B38-52DB-FAA689FA0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6299F71-0123-975C-9E7F-95254A94E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6DEEFD-A359-9DD5-E4C3-CF7CACE6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FCBEDC-457D-4769-A109-8B1E1CBE0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1E41F5-6124-CDC8-98C7-DC27DFB91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E4D6C2-8535-88DC-75CC-2EFF78C49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noProof="0" dirty="0">
                <a:solidFill>
                  <a:srgbClr val="FFFFFF"/>
                </a:solidFill>
              </a:rPr>
              <a:t>Critical Assets and Business Impact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A5BCCF-F126-695C-5CAC-53043CAFA2AB}"/>
              </a:ext>
            </a:extLst>
          </p:cNvPr>
          <p:cNvSpPr txBox="1"/>
          <p:nvPr/>
        </p:nvSpPr>
        <p:spPr>
          <a:xfrm>
            <a:off x="592873" y="1664665"/>
            <a:ext cx="11599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600" noProof="0" dirty="0"/>
              <a:t>The following assets represent the organization’s most valuable and sensitive resources.</a:t>
            </a:r>
          </a:p>
          <a:p>
            <a:pPr algn="just"/>
            <a:r>
              <a:rPr lang="en-GB" sz="1600" noProof="0" dirty="0"/>
              <a:t>Their protection is essential to ensure patient safety, company reputation, legal compliance and operational continuity in the cloud environment.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B1F0AE5-2E4B-5317-E9DF-B50D14FF9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915345"/>
              </p:ext>
            </p:extLst>
          </p:nvPr>
        </p:nvGraphicFramePr>
        <p:xfrm>
          <a:off x="-2050318" y="2219429"/>
          <a:ext cx="8600090" cy="3550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BFD7BD6-965F-C64A-5658-98F21748C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220202"/>
              </p:ext>
            </p:extLst>
          </p:nvPr>
        </p:nvGraphicFramePr>
        <p:xfrm>
          <a:off x="4498825" y="2867965"/>
          <a:ext cx="7260063" cy="19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020">
                  <a:extLst>
                    <a:ext uri="{9D8B030D-6E8A-4147-A177-3AD203B41FA5}">
                      <a16:colId xmlns:a16="http://schemas.microsoft.com/office/drawing/2014/main" val="934334386"/>
                    </a:ext>
                  </a:extLst>
                </a:gridCol>
                <a:gridCol w="2084269">
                  <a:extLst>
                    <a:ext uri="{9D8B030D-6E8A-4147-A177-3AD203B41FA5}">
                      <a16:colId xmlns:a16="http://schemas.microsoft.com/office/drawing/2014/main" val="1704937424"/>
                    </a:ext>
                  </a:extLst>
                </a:gridCol>
                <a:gridCol w="2755774">
                  <a:extLst>
                    <a:ext uri="{9D8B030D-6E8A-4147-A177-3AD203B41FA5}">
                      <a16:colId xmlns:a16="http://schemas.microsoft.com/office/drawing/2014/main" val="21845565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T" sz="1200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Critical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Potential Impact If Compromised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48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T" sz="1100" dirty="0"/>
                        <a:t>Clinical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Patient Records, Imaging Rep.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Major financial and compliance exposure</a:t>
                      </a:r>
                      <a:endParaRPr lang="en-PT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487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T" sz="1200" dirty="0"/>
                        <a:t>Financial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Billing Databases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Finnancial loss, service disruption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40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T" sz="1200" dirty="0"/>
                        <a:t>Custumer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Web Portal, 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Patient Trust &amp; Brand Image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56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T" sz="1200" dirty="0"/>
                        <a:t>Business 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Data Backup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Data Loss &amp; Service Disrupstion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27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E5EC6CB-3AB1-ACEF-0A83-C1E155048143}"/>
              </a:ext>
            </a:extLst>
          </p:cNvPr>
          <p:cNvSpPr txBox="1"/>
          <p:nvPr/>
        </p:nvSpPr>
        <p:spPr>
          <a:xfrm>
            <a:off x="485774" y="5727839"/>
            <a:ext cx="11273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1600" b="1" dirty="0"/>
              <a:t>These assets carry the organization’s reputation and compliance obligatilons – protecting them is not optional, </a:t>
            </a:r>
          </a:p>
          <a:p>
            <a:pPr algn="ctr"/>
            <a:r>
              <a:rPr lang="en-PT" sz="1600" b="1" dirty="0"/>
              <a:t>it’s strategic.</a:t>
            </a:r>
          </a:p>
        </p:txBody>
      </p:sp>
    </p:spTree>
    <p:extLst>
      <p:ext uri="{BB962C8B-B14F-4D97-AF65-F5344CB8AC3E}">
        <p14:creationId xmlns:p14="http://schemas.microsoft.com/office/powerpoint/2010/main" val="1533279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AAD798-D096-1352-685D-573202274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D42F3E9-1245-24EC-B506-E63D04E7D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4C45AB-2136-C359-DC3E-5B8E1D2AC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483AFB-EE2E-505D-0075-82CB4BA6C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C3A962-75D8-510A-C16C-C67F06197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3E1A29-952C-80DF-7A52-979C80B24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noProof="0" dirty="0">
                <a:solidFill>
                  <a:srgbClr val="FFFFFF"/>
                </a:solidFill>
              </a:rPr>
              <a:t>Ranked Risk Register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A44C63D-458F-D842-1D5B-682B09DCF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981601"/>
              </p:ext>
            </p:extLst>
          </p:nvPr>
        </p:nvGraphicFramePr>
        <p:xfrm>
          <a:off x="1653104" y="1621725"/>
          <a:ext cx="8651876" cy="435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072">
                  <a:extLst>
                    <a:ext uri="{9D8B030D-6E8A-4147-A177-3AD203B41FA5}">
                      <a16:colId xmlns:a16="http://schemas.microsoft.com/office/drawing/2014/main" val="4077181776"/>
                    </a:ext>
                  </a:extLst>
                </a:gridCol>
                <a:gridCol w="1825659">
                  <a:extLst>
                    <a:ext uri="{9D8B030D-6E8A-4147-A177-3AD203B41FA5}">
                      <a16:colId xmlns:a16="http://schemas.microsoft.com/office/drawing/2014/main" val="4136124450"/>
                    </a:ext>
                  </a:extLst>
                </a:gridCol>
                <a:gridCol w="3077735">
                  <a:extLst>
                    <a:ext uri="{9D8B030D-6E8A-4147-A177-3AD203B41FA5}">
                      <a16:colId xmlns:a16="http://schemas.microsoft.com/office/drawing/2014/main" val="3249116323"/>
                    </a:ext>
                  </a:extLst>
                </a:gridCol>
                <a:gridCol w="1141465">
                  <a:extLst>
                    <a:ext uri="{9D8B030D-6E8A-4147-A177-3AD203B41FA5}">
                      <a16:colId xmlns:a16="http://schemas.microsoft.com/office/drawing/2014/main" val="1784005669"/>
                    </a:ext>
                  </a:extLst>
                </a:gridCol>
                <a:gridCol w="902126">
                  <a:extLst>
                    <a:ext uri="{9D8B030D-6E8A-4147-A177-3AD203B41FA5}">
                      <a16:colId xmlns:a16="http://schemas.microsoft.com/office/drawing/2014/main" val="1689424985"/>
                    </a:ext>
                  </a:extLst>
                </a:gridCol>
                <a:gridCol w="958819">
                  <a:extLst>
                    <a:ext uri="{9D8B030D-6E8A-4147-A177-3AD203B41FA5}">
                      <a16:colId xmlns:a16="http://schemas.microsoft.com/office/drawing/2014/main" val="3665685723"/>
                    </a:ext>
                  </a:extLst>
                </a:gridCol>
              </a:tblGrid>
              <a:tr h="169714">
                <a:tc>
                  <a:txBody>
                    <a:bodyPr/>
                    <a:lstStyle/>
                    <a:p>
                      <a:r>
                        <a:rPr lang="en-PT" sz="1400" b="1" dirty="0"/>
                        <a:t>Risk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400" b="1" dirty="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400" b="1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400" b="1" dirty="0"/>
                        <a:t>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400" b="1" dirty="0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400" b="1" dirty="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161851"/>
                  </a:ext>
                </a:extLst>
              </a:tr>
              <a:tr h="458228">
                <a:tc>
                  <a:txBody>
                    <a:bodyPr/>
                    <a:lstStyle/>
                    <a:p>
                      <a:r>
                        <a:rPr lang="en-PT" sz="1200" dirty="0"/>
                        <a:t>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Ransomware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Potential service paralysis and data loss</a:t>
                      </a:r>
                      <a:endParaRPr lang="en-P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Critical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016410"/>
                  </a:ext>
                </a:extLst>
              </a:tr>
              <a:tr h="560057">
                <a:tc>
                  <a:txBody>
                    <a:bodyPr/>
                    <a:lstStyle/>
                    <a:p>
                      <a:r>
                        <a:rPr lang="en-PT" sz="1200" dirty="0"/>
                        <a:t>R02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Data Breach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Multi-jurisdiction storage increases exposure</a:t>
                      </a:r>
                      <a:endParaRPr lang="en-P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Medium-High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Critical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99078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r>
                        <a:rPr lang="en-PT" sz="1200" dirty="0"/>
                        <a:t>R03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Compliance Violation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GDPR/HIPAA fines up to $50M</a:t>
                      </a:r>
                      <a:endParaRPr lang="en-P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358683"/>
                  </a:ext>
                </a:extLst>
              </a:tr>
              <a:tr h="763714">
                <a:tc>
                  <a:txBody>
                    <a:bodyPr/>
                    <a:lstStyle/>
                    <a:p>
                      <a:r>
                        <a:rPr lang="en-PT" sz="1200" dirty="0"/>
                        <a:t>R04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Service Disruption/ Disaster/  D</a:t>
                      </a:r>
                      <a:r>
                        <a:rPr lang="en-GB" sz="1200" dirty="0"/>
                        <a:t>d</a:t>
                      </a:r>
                      <a:r>
                        <a:rPr lang="en-PT" sz="1200" dirty="0"/>
                        <a:t>os Attacks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Service interruption or degradation caused by severe failures, disasters, or DDoS attacks that compromise system availability and performance.</a:t>
                      </a:r>
                      <a:endParaRPr lang="en-P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739040"/>
                  </a:ext>
                </a:extLst>
              </a:tr>
              <a:tr h="661885">
                <a:tc>
                  <a:txBody>
                    <a:bodyPr/>
                    <a:lstStyle/>
                    <a:p>
                      <a:r>
                        <a:rPr lang="en-PT" sz="1200" dirty="0"/>
                        <a:t>R05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Insider Misuse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Excessive user privileges and weak access controls increase data exposure</a:t>
                      </a:r>
                      <a:endParaRPr lang="en-P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477086"/>
                  </a:ext>
                </a:extLst>
              </a:tr>
              <a:tr h="152743">
                <a:tc>
                  <a:txBody>
                    <a:bodyPr/>
                    <a:lstStyle/>
                    <a:p>
                      <a:r>
                        <a:rPr lang="en-PT" sz="1200" dirty="0"/>
                        <a:t>R06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Backup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Not having backup could lead to data loss</a:t>
                      </a:r>
                      <a:endParaRPr lang="en-P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Moderate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289105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r>
                        <a:rPr lang="en-PT" sz="1200" dirty="0"/>
                        <a:t>R07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Cloud Misconfiguration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Legacy systems; Risk of open data exposure.</a:t>
                      </a:r>
                      <a:endParaRPr lang="en-P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Moderate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093984"/>
                  </a:ext>
                </a:extLst>
              </a:tr>
              <a:tr h="356400">
                <a:tc>
                  <a:txBody>
                    <a:bodyPr/>
                    <a:lstStyle/>
                    <a:p>
                      <a:r>
                        <a:rPr lang="en-PT" sz="1200" dirty="0"/>
                        <a:t>R08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T" sz="1200" dirty="0"/>
                        <a:t>Vendor lock-in or contract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Vendor dependence or contract failure limiting flexibility or disrupting services.</a:t>
                      </a:r>
                      <a:endParaRPr lang="en-P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T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T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24139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F51C3D1-1DBE-CB16-DD02-4C29C0D3AA64}"/>
              </a:ext>
            </a:extLst>
          </p:cNvPr>
          <p:cNvSpPr txBox="1"/>
          <p:nvPr/>
        </p:nvSpPr>
        <p:spPr>
          <a:xfrm>
            <a:off x="1770061" y="6277888"/>
            <a:ext cx="5442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200" b="1" dirty="0"/>
              <a:t>Likelihood: </a:t>
            </a:r>
            <a:r>
              <a:rPr lang="en-PT" sz="1200" dirty="0"/>
              <a:t>High (&gt;60%); Medium-High (40-60%); Medium (20-40%); Low (&lt;20%)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4682F6-8BB5-8416-E8EC-25CD9ED3DD38}"/>
              </a:ext>
            </a:extLst>
          </p:cNvPr>
          <p:cNvSpPr txBox="1"/>
          <p:nvPr/>
        </p:nvSpPr>
        <p:spPr>
          <a:xfrm>
            <a:off x="1770062" y="6528999"/>
            <a:ext cx="61977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200" b="1" dirty="0"/>
              <a:t>Impact: </a:t>
            </a:r>
            <a:r>
              <a:rPr lang="en-PT" sz="1200" dirty="0"/>
              <a:t>Critical (&gt;90%);  Very High (70-90%); High (50-70%); Medium (30-50%); Low (&lt;30%) </a:t>
            </a:r>
          </a:p>
        </p:txBody>
      </p:sp>
    </p:spTree>
    <p:extLst>
      <p:ext uri="{BB962C8B-B14F-4D97-AF65-F5344CB8AC3E}">
        <p14:creationId xmlns:p14="http://schemas.microsoft.com/office/powerpoint/2010/main" val="2340883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B42A6-6BE6-9616-C50C-619353429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CE083E-89C4-F353-A2A4-B6B4273D7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774233-1E70-D2CD-EE4A-8FCFEE5F3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F61549-612F-D347-BB23-F2F38E814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1D5950-86DB-B3D8-002B-3F5666F3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F59349-72B7-7BDD-8607-C65ED8082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noProof="0" dirty="0">
                <a:solidFill>
                  <a:srgbClr val="FFFFFF"/>
                </a:solidFill>
              </a:rPr>
              <a:t>Risk Matrix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160F6A-0DB8-89F1-B513-BCA2627B2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654429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E7197-3C1C-190B-2627-BCE630ADF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823F091-EE7A-88F8-0904-AA2AF51EE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97732A-CA2C-6636-E0DF-08341F326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246825-4A81-BEE8-0CBF-B18B9DBD9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C68258-1116-D5D6-4777-D66687933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ADB01E-1C38-6F36-24B9-0297C602C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noProof="0" dirty="0">
                <a:solidFill>
                  <a:srgbClr val="FFFFFF"/>
                </a:solidFill>
              </a:rPr>
              <a:t>Reflection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70AA6-4DD1-1646-9FE7-E298F56DE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574523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2883</TotalTime>
  <Words>367</Words>
  <Application>Microsoft Macintosh PowerPoint</Application>
  <PresentationFormat>Widescreen</PresentationFormat>
  <Paragraphs>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Assumptions</vt:lpstr>
      <vt:lpstr>Critical Assets and Business Impact</vt:lpstr>
      <vt:lpstr>Ranked Risk Register</vt:lpstr>
      <vt:lpstr>Risk Matrix</vt:lpstr>
      <vt:lpstr>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fonsecajanjao@gmail.com</dc:creator>
  <cp:lastModifiedBy>Pedro André Ferreira Malainho</cp:lastModifiedBy>
  <cp:revision>9</cp:revision>
  <dcterms:created xsi:type="dcterms:W3CDTF">2025-10-21T13:31:08Z</dcterms:created>
  <dcterms:modified xsi:type="dcterms:W3CDTF">2025-11-02T16:13:42Z</dcterms:modified>
</cp:coreProperties>
</file>